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C8AB4C2-E459-4C33-B2E3-854AB78D8D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Apresentar a dupla e o objetivo: medir o desempenho das duas versões do serviço de extração de links (Python e Ruby), com e sem o cache Redis, variando o número de usuários virtuais até encontrar o ponto de falha do PC.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4E3F0B-1438-44B0-9228-54D159175D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arquitetura tem front-end PHP, serviço de extração (Python ou Ruby) e Redis. Nos testes, o Locust chama a API diretamente, porque é ela que está sendo medida. Criamos a variável USE_CACHE nas duas versões para ligar e desligar o cache sem mudar o código.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BB05AA-B380-4F2E-81DB-539A4B676D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Escolhemos o Locust porque o usuário virtual é código Python comum, roda em modo headless (bom para automatizar os 16 cenários) e exporta as métricas em CSV, que depois juntamos numa planilha. Versão usada: Locust 2.47.0.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03C748-E0B5-46D0-B0E7-1E5B14E2CE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usuário virtual repete o ciclo: 10 chamadas seguidas à API, cada uma com uma URL diferente, e depois uma pausa de 1 a 2 segundos. O parâmetro name agrupa as estatísticas por URL no relatório. Tiramos gnu.org (bloqueia clientes automatizados) e redis.io (página de 1,7 MB que dominaria o tempo) e colocamos sqlite.org e postgresql.org.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AB2010-BA68-495E-A5B6-72423DDC61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 que o escalonamento só com cache: sem cache, cada requisição baixa a página de um site externo. Com milhares de usuários, a falha medida seria o bloqueio desses sites ao nosso IP, e não o limite do PC. Com cache, toda a carga fica na máquina.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BC642E-1D3D-41D3-8A35-CFA177C0B9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Mediana = metade das requisições respondeu em menos que esse tempo. Com cache, quase tudo sai do Redis. Sem cache, o tempo inclui baixar a página e extrair os links. O Ruby piora com mais usuários porque o Puma atende no máximo 5 requisições ao mesmo tempo e forma fila.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F8B7E6-3B5B-493A-8175-1A98D7590F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p95 mostra a experiência dos 5% de usuários mais lentos, o que a média esconde. Com cache, o p95 fica entre 3 e 30 ms. Os 30 ms são do Python com 100 usuários, já perto do ponto de falha.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9A3231-94F9-4E31-93C9-8E3B4A3A8C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vazão com cache cresce junto com os usuários até 50. Com 100, o Python começa a recusar conexões. Sem cache, o Ruby fica preso a 5 extrações simultâneas, cada uma esperando um site externo, e por isso a vazão dele não cresce.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D00944-254D-429B-B306-EB77E6A5BA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Regra: a partir de 100 usuários, multiplicar por 10 enquanto as falhas ficassem em 5% ou menos. O Python já passou de 5% com 100 usuários: repetimos o teste e deu 25,4% na primeira vez e 19,6% na segunda. O Ruby passou com 1.000 (0,004%) e quebrou com 10.000. O ponto de falha é o do PC inteiro, porque o Locust roda na mesma máquina.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216FE4-F9BC-49D4-A1DF-4B7B62A567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Depois do ponto de saturação, mais usuários não trazem mais vazão. A fila cresce até as requisições estourarem o limite de 60 s. Com 10.000 usuários, o Locust usou 16 processos e disputou CPU com a API e com o Redis.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7AA0C4-A3FF-4C37-945E-F50526E2E2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Tabela tirada do results/summary.csv, gerado pelo analysis/analyze.py a partir da linha Aggregated de cada CSV do Locust.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617781-CC8B-498E-B1E7-F4F1755260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média esconde a cauda. No Python com cache e 1 usuário, a mediana é 1 ms, mas o p99 é 400 ms: são as primeiras extrações, antes de o cache encher. Sem cache, os resultados variam com a internet. O teste Ruby, sem cache, 10 usuários deu 320 ms de mediana na primeira vez e 1.500 ms quando foi refeito.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748401-F6A6-45A4-AA42-1782984B32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 resultados originais estão guardados em results/rodada1. O erro do Ruby era "Temporary failure in name resolution", ou seja, o PC ficou alguns segundos sem resolver nomes. Não tem relação com a aplicação.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1F4BF8-6B54-46C3-8D00-EC99D25BCB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Fechamento: o cache reduziu o tempo de resposta em duas a três ordens de grandeza. Com cache, o limite vem do servidor HTTP; sem cache, vem da concorrência e dos sites externos. Os dois gargalos vêm da configuração padrão de cada stack, então o próximo passo natural seria repetir os testes com servidores de produção.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659E1-D774-4450-9B31-5741E0C405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566000" cy="46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900080"/>
            <a:ext cx="10566000" cy="414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Click to edit the outline text format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Sixth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IBM Plex Sans"/>
              </a:rPr>
              <a:t>Seventh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812880" y="812880"/>
            <a:ext cx="10883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pc="99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COMPUTAÇÃO DISTRIBUÍDA · TRABALHO 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12880" y="1282680"/>
            <a:ext cx="10883160" cy="136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281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Testes de desempenho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  <a:p>
            <a:pPr indent="0" algn="l" defTabSz="914400">
              <a:lnSpc>
                <a:spcPts val="5281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com o Link Extractor</a:t>
            </a:r>
            <a:endParaRPr lang="en-US" sz="48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12880" y="2827080"/>
            <a:ext cx="10883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99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BFC8D9"/>
                </a:solidFill>
                <a:effectLst/>
                <a:uFillTx/>
                <a:latin typeface="IBM Plex Sans"/>
                <a:ea typeface="IBM Plex Sans"/>
              </a:rPr>
              <a:t>Python × Ruby, com e sem cache, até o ponto de falha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12880" y="5514480"/>
            <a:ext cx="2434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Alberto Perdigao Lopes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12880" y="5832000"/>
            <a:ext cx="2089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FC8D9"/>
                </a:solidFill>
                <a:effectLst/>
                <a:uFillTx/>
                <a:latin typeface="JetBrains Mono"/>
                <a:ea typeface="JetBrains Mono"/>
              </a:rPr>
              <a:t>Matrícula 2210368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3451320" y="5514480"/>
            <a:ext cx="24343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[Nome do integrante 2]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3451320" y="5832000"/>
            <a:ext cx="20894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FC8D9"/>
                </a:solidFill>
                <a:effectLst/>
                <a:uFillTx/>
                <a:latin typeface="JetBrains Mono"/>
                <a:ea typeface="JetBrains Mono"/>
              </a:rPr>
              <a:t>Matrícula [________]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A APLICAÇÃO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Link Extractor: extrai todos os links de uma URL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819000" y="2007720"/>
            <a:ext cx="2100240" cy="1434600"/>
          </a:xfrm>
          <a:prstGeom prst="roundRect">
            <a:avLst>
              <a:gd name="adj" fmla="val 6637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1026000" y="2214720"/>
            <a:ext cx="1737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Locust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26000" y="2595960"/>
            <a:ext cx="1737000" cy="6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Usuários virtuais chamam a API direto: /api/&lt;url&gt;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arrow-right"/>
          <p:cNvPicPr/>
          <p:nvPr/>
        </p:nvPicPr>
        <p:blipFill>
          <a:blip r:embed="rId1"/>
          <a:stretch/>
        </p:blipFill>
        <p:spPr>
          <a:xfrm>
            <a:off x="3078360" y="2623680"/>
            <a:ext cx="40608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Shape 5"/>
          <p:cNvSpPr/>
          <p:nvPr/>
        </p:nvSpPr>
        <p:spPr>
          <a:xfrm>
            <a:off x="3637440" y="2118240"/>
            <a:ext cx="2092680" cy="1213920"/>
          </a:xfrm>
          <a:prstGeom prst="roundRect">
            <a:avLst>
              <a:gd name="adj" fmla="val 8368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840480" y="2321640"/>
            <a:ext cx="1737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API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3840480" y="2702520"/>
            <a:ext cx="173700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FC8D9"/>
                </a:solidFill>
                <a:effectLst/>
                <a:uFillTx/>
                <a:latin typeface="IBM Plex Sans"/>
                <a:ea typeface="IBM Plex Sans"/>
              </a:rPr>
              <a:t>Python (Flask) :5000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FC8D9"/>
                </a:solidFill>
                <a:effectLst/>
                <a:uFillTx/>
                <a:latin typeface="IBM Plex Sans"/>
                <a:ea typeface="IBM Plex Sans"/>
              </a:rPr>
              <a:t>ou Ruby (Sinatra) :4567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1" descr="arrow-right"/>
          <p:cNvPicPr/>
          <p:nvPr/>
        </p:nvPicPr>
        <p:blipFill>
          <a:blip r:embed="rId2"/>
          <a:stretch/>
        </p:blipFill>
        <p:spPr>
          <a:xfrm>
            <a:off x="5882760" y="2623680"/>
            <a:ext cx="40608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Shape 8"/>
          <p:cNvSpPr/>
          <p:nvPr/>
        </p:nvSpPr>
        <p:spPr>
          <a:xfrm>
            <a:off x="6447960" y="2114640"/>
            <a:ext cx="2100240" cy="1221480"/>
          </a:xfrm>
          <a:prstGeom prst="roundRect">
            <a:avLst>
              <a:gd name="adj" fmla="val 7796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6654960" y="2321640"/>
            <a:ext cx="1737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Redis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6654960" y="2702520"/>
            <a:ext cx="173700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Cache: URL → lista de links em JSON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2" descr="arrow-right"/>
          <p:cNvPicPr/>
          <p:nvPr/>
        </p:nvPicPr>
        <p:blipFill>
          <a:blip r:embed="rId3"/>
          <a:stretch/>
        </p:blipFill>
        <p:spPr>
          <a:xfrm>
            <a:off x="8706960" y="2623680"/>
            <a:ext cx="406080" cy="2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Shape 11"/>
          <p:cNvSpPr/>
          <p:nvPr/>
        </p:nvSpPr>
        <p:spPr>
          <a:xfrm>
            <a:off x="9272160" y="2114640"/>
            <a:ext cx="2100240" cy="1221480"/>
          </a:xfrm>
          <a:prstGeom prst="roundRect">
            <a:avLst>
              <a:gd name="adj" fmla="val 7796"/>
            </a:avLst>
          </a:prstGeom>
          <a:solidFill>
            <a:srgbClr val="FFFFFF"/>
          </a:solidFill>
          <a:ln w="12700">
            <a:solidFill>
              <a:srgbClr val="B5542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9479160" y="2321640"/>
            <a:ext cx="17370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Site externo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9479160" y="2702520"/>
            <a:ext cx="173700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Só se a URL não estiver no cache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4"/>
          <p:cNvSpPr/>
          <p:nvPr/>
        </p:nvSpPr>
        <p:spPr>
          <a:xfrm>
            <a:off x="812520" y="3868200"/>
            <a:ext cx="5181840" cy="360"/>
          </a:xfrm>
          <a:prstGeom prst="line">
            <a:avLst/>
          </a:prstGeom>
          <a:ln w="25400">
            <a:solidFill>
              <a:srgbClr val="2E6F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812880" y="4033440"/>
            <a:ext cx="5336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cache (USE_CACHE=true)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812880" y="4312800"/>
            <a:ext cx="533664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 API procura a URL no Redis. Se achar, devolve na hora; se não, extrai do site e grava no Redis.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7"/>
          <p:cNvSpPr/>
          <p:nvPr/>
        </p:nvSpPr>
        <p:spPr>
          <a:xfrm>
            <a:off x="6197400" y="3868200"/>
            <a:ext cx="5181480" cy="360"/>
          </a:xfrm>
          <a:prstGeom prst="line">
            <a:avLst/>
          </a:prstGeom>
          <a:ln w="25400">
            <a:solidFill>
              <a:srgbClr val="B55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6197760" y="4033440"/>
            <a:ext cx="53366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Sem cache (USE_CACHE=false)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9"/>
          <p:cNvSpPr/>
          <p:nvPr/>
        </p:nvSpPr>
        <p:spPr>
          <a:xfrm>
            <a:off x="6197760" y="4312800"/>
            <a:ext cx="53366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Toda requisição baixa a página do site externo e extrai os links de novo.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A FERRAMENTA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Locust: teste de carga escrito em Python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819000" y="2007720"/>
            <a:ext cx="5168520" cy="1429560"/>
          </a:xfrm>
          <a:prstGeom prst="roundRect">
            <a:avLst>
              <a:gd name="adj" fmla="val 6661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1077120" y="2265840"/>
            <a:ext cx="4792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Usuário virtual = classe Python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1077120" y="2646720"/>
            <a:ext cx="47926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O comportamento de cada usuário é um script: o que chamar, em que ordem e quanto esperar.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6203880" y="2007720"/>
            <a:ext cx="5168520" cy="1429560"/>
          </a:xfrm>
          <a:prstGeom prst="roundRect">
            <a:avLst>
              <a:gd name="adj" fmla="val 6661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6461640" y="2265840"/>
            <a:ext cx="4792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Modo headless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461640" y="2646720"/>
            <a:ext cx="47926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Roda sem interface: -u usuários, -r chegada por segundo, -t duração.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8"/>
          <p:cNvSpPr/>
          <p:nvPr/>
        </p:nvSpPr>
        <p:spPr>
          <a:xfrm>
            <a:off x="819000" y="3653640"/>
            <a:ext cx="5168520" cy="1429560"/>
          </a:xfrm>
          <a:prstGeom prst="roundRect">
            <a:avLst>
              <a:gd name="adj" fmla="val 6661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1077120" y="3911760"/>
            <a:ext cx="4792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Métricas em CSV e 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1077120" y="4292640"/>
            <a:ext cx="47926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Média, mediana, percentis (50–100%), req/s e falhas, por URL e agregadas.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1"/>
          <p:cNvSpPr/>
          <p:nvPr/>
        </p:nvSpPr>
        <p:spPr>
          <a:xfrm>
            <a:off x="6203880" y="3653640"/>
            <a:ext cx="5168520" cy="1429560"/>
          </a:xfrm>
          <a:prstGeom prst="roundRect">
            <a:avLst>
              <a:gd name="adj" fmla="val 6661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2"/>
          <p:cNvSpPr/>
          <p:nvPr/>
        </p:nvSpPr>
        <p:spPr>
          <a:xfrm>
            <a:off x="6461640" y="3911760"/>
            <a:ext cx="47926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Vários processos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6461640" y="4292640"/>
            <a:ext cx="47926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 partir de 1.000 usuários usamos --processes -1: um gerador por núcleo.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O SCRIPT DO USUÁRIO VIRTUAL · locust/locustfile.py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10 invocações seguidas, uma URL diferente em cada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56" name="Text 2"/>
          <p:cNvSpPr/>
          <p:nvPr/>
        </p:nvSpPr>
        <p:spPr>
          <a:xfrm>
            <a:off x="812880" y="1900080"/>
            <a:ext cx="6359760" cy="2810880"/>
          </a:xfrm>
          <a:prstGeom prst="roundRect">
            <a:avLst>
              <a:gd name="adj" fmla="val 3614"/>
            </a:avLst>
          </a:prstGeom>
          <a:solidFill>
            <a:srgbClr val="1421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4280" tIns="224280" rIns="48600" bIns="198720" anchor="t">
            <a:normAutofit/>
          </a:bodyPr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class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 LinkExtractorUser(HttpUser):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wait_time = between(</a:t>
            </a:r>
            <a:r>
              <a:rPr lang="en-US" sz="1300" b="0" u="none" strike="noStrike">
                <a:solidFill>
                  <a:srgbClr val="8FC1E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, </a:t>
            </a:r>
            <a:r>
              <a:rPr lang="en-US" sz="1300" b="0" u="none" strike="noStrike">
                <a:solidFill>
                  <a:srgbClr val="8FC1E8"/>
                </a:solidFill>
                <a:effectLst/>
                <a:uFillTx/>
                <a:latin typeface="JetBrains Mono"/>
                <a:ea typeface="JetBrains Mono"/>
              </a:rPr>
              <a:t>2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</a:t>
            </a:r>
            <a:r>
              <a:rPr lang="en-US" sz="1300" b="0" u="none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@task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</a:t>
            </a:r>
            <a:r>
              <a:rPr lang="en-US" sz="1300" b="0" u="none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def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 sequencia_de_extracoes(self):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    </a:t>
            </a:r>
            <a:r>
              <a:rPr lang="en-US" sz="1300" b="0" u="none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for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 i, url </a:t>
            </a:r>
            <a:r>
              <a:rPr lang="en-US" sz="1300" b="0" u="none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in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 enumerate(URLS, start=</a:t>
            </a:r>
            <a:r>
              <a:rPr lang="en-US" sz="1300" b="0" u="none" strike="noStrike">
                <a:solidFill>
                  <a:srgbClr val="8FC1E8"/>
                </a:solidFill>
                <a:effectLst/>
                <a:uFillTx/>
                <a:latin typeface="JetBrains Mono"/>
                <a:ea typeface="JetBrains Mono"/>
              </a:rPr>
              <a:t>1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):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        self.client.get(f"/api/{url}",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            name=f"{i:02d} {url}",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15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                timeout=</a:t>
            </a:r>
            <a:r>
              <a:rPr lang="en-US" sz="1300" b="0" u="none" strike="noStrike">
                <a:solidFill>
                  <a:srgbClr val="8FC1E8"/>
                </a:solidFill>
                <a:effectLst/>
                <a:uFillTx/>
                <a:latin typeface="JetBrains Mono"/>
                <a:ea typeface="JetBrains Mono"/>
              </a:rPr>
              <a:t>60</a:t>
            </a:r>
            <a:r>
              <a:rPr lang="en-US" sz="1300" b="0" u="none" strike="noStrike">
                <a:solidFill>
                  <a:srgbClr val="E6E9F0"/>
                </a:solidFill>
                <a:effectLst/>
                <a:uFillTx/>
                <a:latin typeface="JetBrains Mono"/>
                <a:ea typeface="JetBrains Mono"/>
              </a:rPr>
              <a:t>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7477920" y="1900080"/>
            <a:ext cx="40179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As 10 URLs (iguais nas duas versões)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7477920" y="2230200"/>
            <a:ext cx="4017960" cy="24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example.com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python.org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ruby-lang.org/en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sqlite.org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debian.org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w3.org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apache.org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kernel.org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php.net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JetBrains Mono"/>
                <a:ea typeface="JetBrains Mono"/>
              </a:rPr>
              <a:t>postgresql.org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CENÁRIOS DE TESTE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2 versões × 2 modos de cache × 4 cargas = 16 testes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61" name="Table 0"/>
          <p:cNvGraphicFramePr/>
          <p:nvPr/>
        </p:nvGraphicFramePr>
        <p:xfrm>
          <a:off x="822960" y="1910160"/>
          <a:ext cx="5833440" cy="2798640"/>
        </p:xfrm>
        <a:graphic>
          <a:graphicData uri="http://schemas.openxmlformats.org/drawingml/2006/table">
            <a:tbl>
              <a:tblPr/>
              <a:tblGrid>
                <a:gridCol w="1866600"/>
                <a:gridCol w="3966840"/>
              </a:tblGrid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Parâmetro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Valores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Versão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Python (Flask) · Ruby (Sinatra + Puma)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com Redis · sem cache (USE_CACHE=false)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Usuários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· 10 · 50 · 100 (chegada = usuários/10 por s)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6321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Duração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2 min por teste; Redis esvaziado antes de cada um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</a:tr>
              <a:tr h="6321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Escalonamento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com cache: ×10 (1.000, 10.000…) até falhas &gt; 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2" name="Shape 2"/>
          <p:cNvSpPr/>
          <p:nvPr/>
        </p:nvSpPr>
        <p:spPr>
          <a:xfrm>
            <a:off x="6968160" y="1906200"/>
            <a:ext cx="4404600" cy="2796120"/>
          </a:xfrm>
          <a:prstGeom prst="roundRect">
            <a:avLst>
              <a:gd name="adj" fmla="val 3406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7225920" y="2163960"/>
            <a:ext cx="40053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Máquina de teste (pc1)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7225920" y="2494440"/>
            <a:ext cx="4005360" cy="93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AMD Ryzen AI 7 350, 8 núcleos / 16 threads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14 GiB de RAM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Fedora 44 · Docker Compose 5.6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Locust 2.47 na mesma máquina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7225920" y="3510360"/>
            <a:ext cx="400536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Automação: </a:t>
            </a:r>
            <a:r>
              <a:rPr lang="en-US" sz="1200" b="0" u="none" strike="noStrike">
                <a:solidFill>
                  <a:srgbClr val="B5542B"/>
                </a:solidFill>
                <a:effectLst/>
                <a:uFillTx/>
                <a:latin typeface="IBM Plex Sans"/>
                <a:ea typeface="IBM Plex Sans"/>
              </a:rPr>
              <a:t>run_scenarios.py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 sobe cada versão com docker compose, roda o Locust e salva os CSVs.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RESULTADOS · MEDIANA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cache: 1 ms. Sem cache: centenas a milhares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68" name="Shape 2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Image 0" descr="Gráfico de barras da mediana do tempo de resposta por número de usuários: com cache, 1 ms nas duas versões (6 ms no Python com 100); sem cache, Python 610, 370, 380 e 890 ms e Ruby 380, 1500, 2300 e 8400 ms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8420040" y="3185640"/>
            <a:ext cx="30474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As barras com cache quase não aparecem: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1 ms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nas duas versões.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8420040" y="3871440"/>
            <a:ext cx="304740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Sem cache, o Ruby sobe de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380 ms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para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8.400 ms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; o Python fica abaixo de 900 ms.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RESULTADOS · PERCENTIL 95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A cauda mostra a fila do Ruby sem cache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Image 0" descr="Gráfico de barras do percentil 95 do tempo de resposta por número de usuários, para Python e Ruby com e sem cache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8420040" y="3185640"/>
            <a:ext cx="304740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100 usuários sem cache, 5% das requisições do Ruby levam mais de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35 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8420040" y="4138200"/>
            <a:ext cx="30474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No Python, o p95 fica entre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1,1 e 2,7 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em todas as cargas.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812880" y="812880"/>
            <a:ext cx="108831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570"/>
              </a:lnSpc>
              <a:tabLst>
                <a:tab pos="0" algn="l"/>
              </a:tabLst>
            </a:pPr>
            <a:r>
              <a:rPr lang="en-US" sz="112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RESULTADOS · VAZÃO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12880" y="1111320"/>
            <a:ext cx="11378880" cy="88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34"/>
              </a:lnSpc>
              <a:buNone/>
              <a:tabLst>
                <a:tab pos="0" algn="l"/>
              </a:tabLst>
            </a:pPr>
            <a:r>
              <a:rPr lang="en-US" sz="316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Sem cache, o Python atende 20× mais com 100 usuários</a:t>
            </a:r>
            <a:endParaRPr lang="en-US" sz="316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812880" y="2132640"/>
            <a:ext cx="7302240" cy="405720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Image 0" descr="Gráfico de barras da vazão em requisições por segundo, por número de usuários: com 100 usuários, Python com cache 497, Ruby com cache 616, Python sem cache 87 e Ruby sem cache 4"/>
          <p:cNvSpPr/>
          <p:nvPr/>
        </p:nvSpPr>
        <p:spPr>
          <a:xfrm>
            <a:off x="812880" y="2132640"/>
            <a:ext cx="7302240" cy="4057200"/>
          </a:xfrm>
          <a:prstGeom prst="roundRect">
            <a:avLst>
              <a:gd name="adj" fmla="val 187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8420040" y="3418560"/>
            <a:ext cx="304740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cache: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616 req/s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no Ruby e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497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no Python (com 19,6% de falhas).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8420040" y="4371120"/>
            <a:ext cx="30474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Sem cache: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87 req/s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no Python e só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4,4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 no Ruby.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PONTO DE FALHA · FALHAS &gt; 5%, COM CACHE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O Ruby aguenta 100× mais usuários que o Python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Image 0" descr="Gráfico de barras do percentual de falhas com cache: Python 0% até 50 usuários e 19,6% com 100; Ruby 0% até 1.000 usuários e 90,5% com 10.000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"/>
          <p:cNvSpPr/>
          <p:nvPr/>
        </p:nvSpPr>
        <p:spPr>
          <a:xfrm>
            <a:off x="8439120" y="3044520"/>
            <a:ext cx="360" cy="782280"/>
          </a:xfrm>
          <a:prstGeom prst="line">
            <a:avLst/>
          </a:prstGeom>
          <a:ln w="38100">
            <a:solidFill>
              <a:srgbClr val="2E6FA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8607960" y="3044880"/>
            <a:ext cx="28540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Python: 100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8607960" y="3400560"/>
            <a:ext cx="28540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19,6% de falhas: Connection reset (servidor recusa conexões)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8439120" y="4030200"/>
            <a:ext cx="360" cy="782280"/>
          </a:xfrm>
          <a:prstGeom prst="line">
            <a:avLst/>
          </a:prstGeom>
          <a:ln w="38100">
            <a:solidFill>
              <a:srgbClr val="B55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8607960" y="4030200"/>
            <a:ext cx="28540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Ruby: 10.000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8607960" y="4385880"/>
            <a:ext cx="285408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90,5% de falhas: tempo limite de 60 s estourado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PONTO DE FALHA · VAZÃO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Ruby chega a 1.394 req/s e desaba com 10.000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Image 0" descr="Gráfico de barras da vazão com cache no escalonamento: Ruby 616 req/s com 100 usuários, 1.394 com 1.000 e 94 com 10.000; Python 497 com 100"/>
          <p:cNvSpPr/>
          <p:nvPr/>
        </p:nvSpPr>
        <p:spPr>
          <a:xfrm>
            <a:off x="812880" y="1900080"/>
            <a:ext cx="7302240" cy="4057200"/>
          </a:xfrm>
          <a:prstGeom prst="roundRect">
            <a:avLst>
              <a:gd name="adj" fmla="val 187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8420040" y="3185640"/>
            <a:ext cx="304740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1.000 usuários: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1.394 req/s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, mediana de 340 ms e 0,004% de falhas.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8420040" y="4138200"/>
            <a:ext cx="30474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10.000, a vazão cai para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94 req/s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: a fila não anda.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RESUMO DOS RESULTADOS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Os números com 1 e 100 usuários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102" name="Table 0"/>
          <p:cNvGraphicFramePr/>
          <p:nvPr/>
        </p:nvGraphicFramePr>
        <p:xfrm>
          <a:off x="822960" y="1910160"/>
          <a:ext cx="10555920" cy="2684520"/>
        </p:xfrm>
        <a:graphic>
          <a:graphicData uri="http://schemas.openxmlformats.org/drawingml/2006/table">
            <a:tbl>
              <a:tblPr/>
              <a:tblGrid>
                <a:gridCol w="2955600"/>
                <a:gridCol w="1266480"/>
                <a:gridCol w="1583280"/>
                <a:gridCol w="1583280"/>
                <a:gridCol w="1583280"/>
                <a:gridCol w="1583280"/>
              </a:tblGrid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Cenário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Usuários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Mediana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p95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req/s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Falhas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Python · com 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6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4 / 30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6 / 497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 / 19,6%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Ruby · com 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1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3 / 3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6 / 616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 / 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Python · sem 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610 / 890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2,7 / 1,6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87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 / 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Ruby · sem 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 / 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380 / 8.400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1,3 / 35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1,6 / 4,4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 / 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Ruby · com 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1.000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340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910 ms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1.394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0,004%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BFBDB8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Ruby · com cache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10.000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60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60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94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algn="r"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90,5%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103" name="Text 2"/>
          <p:cNvSpPr/>
          <p:nvPr/>
        </p:nvSpPr>
        <p:spPr>
          <a:xfrm>
            <a:off x="812880" y="489960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Cada célula: valor com 1 usuário / valor com 100. Todos os testes em results/summary.csv.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ANÁLISE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O gargalo muda com o cache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819000" y="1906200"/>
            <a:ext cx="3373560" cy="2001240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1077120" y="2163960"/>
            <a:ext cx="2943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300–8.000×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077120" y="2656800"/>
            <a:ext cx="2943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O cache domina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077120" y="2986920"/>
            <a:ext cx="294372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Com o Redis, a mediana fica em 1 ms. Sem ele, cada requisição espera baixar a página e extrair os links.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6"/>
          <p:cNvSpPr/>
          <p:nvPr/>
        </p:nvSpPr>
        <p:spPr>
          <a:xfrm>
            <a:off x="4408920" y="1906200"/>
            <a:ext cx="3373560" cy="2001240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4666680" y="2163960"/>
            <a:ext cx="2943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E6FAB"/>
                </a:solidFill>
                <a:effectLst/>
                <a:uFillTx/>
                <a:latin typeface="JetBrains Mono"/>
                <a:ea typeface="JetBrains Mono"/>
              </a:rPr>
              <a:t>~500 req/s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4666680" y="2656800"/>
            <a:ext cx="2943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cache: o servidor HTTP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4666680" y="2986920"/>
            <a:ext cx="294372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O servidor de desenvolvimento do Flask passa a recusar conexões. O Puma (Ruby) vai até 1.394 req/s.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"/>
          <p:cNvSpPr/>
          <p:nvPr/>
        </p:nvSpPr>
        <p:spPr>
          <a:xfrm>
            <a:off x="7998840" y="1906200"/>
            <a:ext cx="3373560" cy="2001240"/>
          </a:xfrm>
          <a:prstGeom prst="roundRect">
            <a:avLst>
              <a:gd name="adj" fmla="val 4759"/>
            </a:avLst>
          </a:prstGeom>
          <a:solidFill>
            <a:srgbClr val="FFFFFF"/>
          </a:solidFill>
          <a:ln w="12700">
            <a:solidFill>
              <a:srgbClr val="D9DCE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8256600" y="2163960"/>
            <a:ext cx="2943720" cy="4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08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5 threads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8256600" y="2656800"/>
            <a:ext cx="294372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Sem cache: concorrência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8256600" y="2986920"/>
            <a:ext cx="294372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74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O Puma atende só 5 extrações ao mesmo tempo e forma fila. O Flask abre uma thread por requisição.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812880" y="4218840"/>
            <a:ext cx="108831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Não existe uma versão melhor em tudo: </a:t>
            </a:r>
            <a:r>
              <a:rPr lang="en-US" sz="15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com cache o Ruby aguenta mais; sem cache, o Python</a:t>
            </a:r>
            <a:r>
              <a:rPr lang="en-US" sz="15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5542B"/>
                </a:solidFill>
                <a:effectLst/>
                <a:uFillTx/>
                <a:latin typeface="JetBrains Mono"/>
                <a:ea typeface="JetBrains Mono"/>
              </a:rPr>
              <a:t>VALIDAÇÃO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12880" y="1127880"/>
            <a:ext cx="10883160" cy="4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679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Testes refeitos e limitações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graphicFrame>
        <p:nvGraphicFramePr>
          <p:cNvPr id="121" name="Table 0"/>
          <p:cNvGraphicFramePr/>
          <p:nvPr/>
        </p:nvGraphicFramePr>
        <p:xfrm>
          <a:off x="822960" y="1910160"/>
          <a:ext cx="10555920" cy="1399320"/>
        </p:xfrm>
        <a:graphic>
          <a:graphicData uri="http://schemas.openxmlformats.org/drawingml/2006/table">
            <a:tbl>
              <a:tblPr/>
              <a:tblGrid>
                <a:gridCol w="2955600"/>
                <a:gridCol w="1688760"/>
                <a:gridCol w="4222440"/>
                <a:gridCol w="1688760"/>
              </a:tblGrid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Teste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1ª rodada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Motivo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4F1EA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Refeito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141E34"/>
                      </a:solidFill>
                      <a:prstDash val="solid"/>
                    </a:lnL>
                    <a:lnR w="12240">
                      <a:solidFill>
                        <a:srgbClr val="141E34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141E34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38340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Ruby · sem cache · 10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10,6% falhas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O DNS caiu durante o teste: falha da rede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0% falhas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C5C4C1"/>
                      </a:solidFill>
                      <a:prstDash val="solid"/>
                    </a:lnR>
                    <a:lnT w="12240">
                      <a:solidFill>
                        <a:srgbClr val="141E34"/>
                      </a:solidFill>
                      <a:prstDash val="solid"/>
                    </a:lnT>
                    <a:lnB w="12240">
                      <a:solidFill>
                        <a:srgbClr val="C5C4C1"/>
                      </a:solidFill>
                      <a:prstDash val="solid"/>
                    </a:lnB>
                    <a:noFill/>
                  </a:tcPr>
                </a:tc>
              </a:tr>
              <a:tr h="632160"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Python · com cache · 100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C5C4C1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25,4% falhas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Confirmar o ponto de falha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 lIns="61920" tIns="61920" rIns="61920" bIns="61920" anchor="t">
                      <a:noAutofit/>
                    </a:bodyPr>
                    <a:p>
                      <a:pPr defTabSz="914400">
                        <a:lnSpc>
                          <a:spcPts val="1959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213D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19,6%: confirmado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61920" marR="61920" marT="61920" marB="61920">
                    <a:lnL w="12240">
                      <a:solidFill>
                        <a:srgbClr val="BFBDB8"/>
                      </a:solidFill>
                      <a:prstDash val="solid"/>
                    </a:lnL>
                    <a:lnR w="12240">
                      <a:solidFill>
                        <a:srgbClr val="BFBDB8"/>
                      </a:solidFill>
                      <a:prstDash val="solid"/>
                    </a:lnR>
                    <a:lnT w="12240">
                      <a:solidFill>
                        <a:srgbClr val="C5C4C1"/>
                      </a:solidFill>
                      <a:prstDash val="solid"/>
                    </a:lnT>
                    <a:lnB w="12240">
                      <a:solidFill>
                        <a:srgbClr val="BFBDB8"/>
                      </a:solidFill>
                      <a:prstDash val="soli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122" name="Shape 2"/>
          <p:cNvSpPr/>
          <p:nvPr/>
        </p:nvSpPr>
        <p:spPr>
          <a:xfrm>
            <a:off x="825480" y="3614400"/>
            <a:ext cx="360" cy="248760"/>
          </a:xfrm>
          <a:prstGeom prst="line">
            <a:avLst/>
          </a:prstGeom>
          <a:ln w="25400">
            <a:solidFill>
              <a:srgbClr val="B55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990720" y="3614400"/>
            <a:ext cx="5101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Só um PC: não houve repetição em outra máquina.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6260760" y="3614400"/>
            <a:ext cx="360" cy="248760"/>
          </a:xfrm>
          <a:prstGeom prst="line">
            <a:avLst/>
          </a:prstGeom>
          <a:ln w="25400">
            <a:solidFill>
              <a:srgbClr val="B55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6426360" y="3614400"/>
            <a:ext cx="5101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O Locust roda na mesma máquina e disputa CPU com a API.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825480" y="4015440"/>
            <a:ext cx="360" cy="497880"/>
          </a:xfrm>
          <a:prstGeom prst="line">
            <a:avLst/>
          </a:prstGeom>
          <a:ln w="25400">
            <a:solidFill>
              <a:srgbClr val="B55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7"/>
          <p:cNvSpPr/>
          <p:nvPr/>
        </p:nvSpPr>
        <p:spPr>
          <a:xfrm>
            <a:off x="990720" y="4015800"/>
            <a:ext cx="5101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Uma execução por cenário: sem desvio-padrão.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6260760" y="4015440"/>
            <a:ext cx="360" cy="497880"/>
          </a:xfrm>
          <a:prstGeom prst="line">
            <a:avLst/>
          </a:prstGeom>
          <a:ln w="25400">
            <a:solidFill>
              <a:srgbClr val="B55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6426360" y="4015800"/>
            <a:ext cx="510120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4213D"/>
                </a:solidFill>
                <a:effectLst/>
                <a:uFillTx/>
                <a:latin typeface="IBM Plex Sans"/>
                <a:ea typeface="IBM Plex Sans"/>
              </a:rPr>
              <a:t>Configuração padrão de cada stack (Flask dev, Puma com 5 threads).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812880" y="199656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F2A65A"/>
                </a:solidFill>
                <a:effectLst/>
                <a:uFillTx/>
                <a:latin typeface="JetBrains Mono"/>
                <a:ea typeface="JetBrains Mono"/>
              </a:rPr>
              <a:t>CONCLUSÃO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12880" y="2311560"/>
            <a:ext cx="10883160" cy="107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4141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O cache é o que mais pesa no desempenho. A versão vencedora depende de ter cache.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IBM Plex Sans"/>
            </a:endParaRPr>
          </a:p>
        </p:txBody>
      </p:sp>
      <p:sp>
        <p:nvSpPr>
          <p:cNvPr id="132" name="Shape 2"/>
          <p:cNvSpPr/>
          <p:nvPr/>
        </p:nvSpPr>
        <p:spPr>
          <a:xfrm>
            <a:off x="812520" y="3781800"/>
            <a:ext cx="3318840" cy="360"/>
          </a:xfrm>
          <a:prstGeom prst="line">
            <a:avLst/>
          </a:prstGeom>
          <a:ln w="2540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812880" y="3947040"/>
            <a:ext cx="34182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Com cache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812880" y="4328280"/>
            <a:ext cx="34182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BFC8D9"/>
                </a:solidFill>
                <a:effectLst/>
                <a:uFillTx/>
                <a:latin typeface="IBM Plex Sans"/>
                <a:ea typeface="IBM Plex Sans"/>
              </a:rPr>
              <a:t>Ruby: até 1.000 usuários sem falhas. Python falha com 100.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436280" y="3781800"/>
            <a:ext cx="3319200" cy="360"/>
          </a:xfrm>
          <a:prstGeom prst="line">
            <a:avLst/>
          </a:prstGeom>
          <a:ln w="25400">
            <a:solidFill>
              <a:srgbClr val="8FC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436640" y="3947040"/>
            <a:ext cx="34182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Sem cache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4436640" y="4328280"/>
            <a:ext cx="34182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BFC8D9"/>
                </a:solidFill>
                <a:effectLst/>
                <a:uFillTx/>
                <a:latin typeface="IBM Plex Sans"/>
                <a:ea typeface="IBM Plex Sans"/>
              </a:rPr>
              <a:t>Python: 87 req/s com 100 usuários. Ruby: 4,4, com fila.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8060040" y="3781800"/>
            <a:ext cx="3318840" cy="360"/>
          </a:xfrm>
          <a:prstGeom prst="line">
            <a:avLst/>
          </a:prstGeom>
          <a:ln w="25400">
            <a:solidFill>
              <a:srgbClr val="F4F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8060400" y="3947040"/>
            <a:ext cx="341820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Em produção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8060400" y="4328280"/>
            <a:ext cx="34182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BFC8D9"/>
                </a:solidFill>
                <a:effectLst/>
                <a:uFillTx/>
                <a:latin typeface="IBM Plex Sans"/>
                <a:ea typeface="IBM Plex Sans"/>
              </a:rPr>
              <a:t>Trocar o Flask dev por Gunicorn e aumentar as threads do Puma.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stes de Desempenho – Link Extractor">
  <a:themeElements>
    <a:clrScheme name="Testes de Desempenho – Link Extractor">
      <a:dk1>
        <a:srgbClr val="14213D"/>
      </a:dk1>
      <a:lt1>
        <a:srgbClr val="F7F6F2"/>
      </a:lt1>
      <a:dk2>
        <a:srgbClr val="4D566A"/>
      </a:dk2>
      <a:lt2>
        <a:srgbClr val="E0E1E0"/>
      </a:lt2>
      <a:accent1>
        <a:srgbClr val="B5542B"/>
      </a:accent1>
      <a:accent2>
        <a:srgbClr val="F2A65A"/>
      </a:accent2>
      <a:accent3>
        <a:srgbClr val="2E6FAB"/>
      </a:accent3>
      <a:accent4>
        <a:srgbClr val="4A5568"/>
      </a:accent4>
      <a:accent5>
        <a:srgbClr val="BFC8D9"/>
      </a:accent5>
      <a:accent6>
        <a:srgbClr val="9AA0A6"/>
      </a:accent6>
      <a:hlink>
        <a:srgbClr val="0563C1"/>
      </a:hlink>
      <a:folHlink>
        <a:srgbClr val="954F72"/>
      </a:folHlink>
    </a:clrScheme>
    <a:fontScheme name="Testes de Desempenho – Link Extractor">
      <a:majorFont>
        <a:latin typeface="IBM Plex Sans" pitchFamily="0" charset="1"/>
        <a:ea typeface=""/>
        <a:cs typeface=""/>
      </a:majorFont>
      <a:minorFont>
        <a:latin typeface="IBM Plex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2026-10-31T01:24:09Z</dcterms:created>
  <dc:creator/>
  <dc:description/>
  <dc:language>en-US</dc:language>
  <cp:lastModifiedBy/>
  <dcterms:modified xsi:type="dcterms:W3CDTF">2026-10-30T22:25:13Z</dcterms:modified>
  <cp:revision>2</cp:revision>
  <dc:subject/>
  <dc:title>Testes de Desempenho – Link Extractor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